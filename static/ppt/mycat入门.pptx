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417" r:id="rId3"/>
    <p:sldId id="464" r:id="rId4"/>
    <p:sldId id="463" r:id="rId5"/>
    <p:sldId id="465" r:id="rId6"/>
    <p:sldId id="466" r:id="rId7"/>
    <p:sldId id="462" r:id="rId8"/>
    <p:sldId id="300" r:id="rId9"/>
    <p:sldId id="352" r:id="rId10"/>
    <p:sldId id="257" r:id="rId11"/>
    <p:sldId id="355" r:id="rId12"/>
    <p:sldId id="418" r:id="rId13"/>
    <p:sldId id="419" r:id="rId14"/>
    <p:sldId id="420" r:id="rId15"/>
    <p:sldId id="421" r:id="rId16"/>
    <p:sldId id="422" r:id="rId17"/>
    <p:sldId id="423" r:id="rId18"/>
    <p:sldId id="424" r:id="rId20"/>
    <p:sldId id="425" r:id="rId21"/>
    <p:sldId id="359" r:id="rId22"/>
    <p:sldId id="360" r:id="rId23"/>
    <p:sldId id="333" r:id="rId24"/>
    <p:sldId id="315" r:id="rId25"/>
    <p:sldId id="362" r:id="rId26"/>
    <p:sldId id="330" r:id="rId27"/>
    <p:sldId id="392" r:id="rId28"/>
    <p:sldId id="393" r:id="rId29"/>
    <p:sldId id="394" r:id="rId30"/>
    <p:sldId id="395" r:id="rId31"/>
    <p:sldId id="396" r:id="rId32"/>
    <p:sldId id="397" r:id="rId33"/>
    <p:sldId id="276" r:id="rId34"/>
    <p:sldId id="331" r:id="rId35"/>
    <p:sldId id="298" r:id="rId36"/>
    <p:sldId id="329" r:id="rId37"/>
    <p:sldId id="328" r:id="rId38"/>
    <p:sldId id="260" r:id="rId39"/>
    <p:sldId id="268" r:id="rId40"/>
    <p:sldId id="389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B9722-9B96-4779-80C1-2A8C2BE9229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E6C687-6E0D-49BF-BBAA-E1323E2A1A7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临时的</a:t>
            </a:r>
            <a:r>
              <a:rPr lang="en-US" altLang="zh-CN" dirty="0" err="1" smtClean="0"/>
              <a:t>znode</a:t>
            </a:r>
            <a:r>
              <a:rPr lang="zh-CN" altLang="en-US" dirty="0" smtClean="0"/>
              <a:t>当创建该节点的客户端奔溃或关闭了与</a:t>
            </a:r>
            <a:r>
              <a:rPr lang="en-US" altLang="zh-CN" dirty="0" err="1" smtClean="0"/>
              <a:t>ZooKeeper</a:t>
            </a:r>
            <a:r>
              <a:rPr lang="zh-CN" altLang="en-US" dirty="0" smtClean="0"/>
              <a:t>的连接时，這个节点就会删除。有序</a:t>
            </a:r>
            <a:r>
              <a:rPr lang="en-US" altLang="zh-CN" dirty="0" err="1" smtClean="0"/>
              <a:t>znode</a:t>
            </a:r>
            <a:r>
              <a:rPr lang="zh-CN" altLang="en-US" dirty="0" smtClean="0"/>
              <a:t>节点被分配唯一一个单调递增的整数，追加到路径之后。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E6C687-6E0D-49BF-BBAA-E1323E2A1A7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286E0-8A73-485F-99E8-5E68E4C5E3F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2CB03D-1A0B-4872-B32A-FB6B89BB98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Mycat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Mycat 是数据库中间件，就是介于数据库与应用之间，进行数据</a:t>
            </a:r>
            <a:endParaRPr lang="zh-CN" altLang="en-US"/>
          </a:p>
          <a:p>
            <a:r>
              <a:rPr lang="zh-CN" altLang="en-US"/>
              <a:t>处理与交互的中间服务。</a:t>
            </a:r>
            <a:endParaRPr lang="zh-CN" altLang="en-US"/>
          </a:p>
          <a:p>
            <a:r>
              <a:rPr lang="en-US" altLang="zh-CN"/>
              <a:t>mycat</a:t>
            </a:r>
            <a:r>
              <a:rPr lang="zh-CN" altLang="en-US"/>
              <a:t>内部使用了Druid SQL Parser进行</a:t>
            </a:r>
            <a:r>
              <a:rPr lang="en-US" altLang="zh-CN"/>
              <a:t>sql</a:t>
            </a:r>
            <a:r>
              <a:rPr lang="zh-CN" altLang="en-US"/>
              <a:t>解析改写，然后将请求转</a:t>
            </a:r>
            <a:endParaRPr lang="zh-CN" altLang="en-US"/>
          </a:p>
          <a:p>
            <a:r>
              <a:rPr lang="zh-CN" altLang="en-US"/>
              <a:t>发与结果合并。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8535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概念</a:t>
            </a:r>
            <a:r>
              <a:rPr lang="en-US" altLang="zh-CN">
                <a:sym typeface="+mn-ea"/>
              </a:rPr>
              <a:t>——节点主机(dataHost)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00935" y="1120775"/>
            <a:ext cx="7278370" cy="5482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概念</a:t>
            </a:r>
            <a:r>
              <a:rPr lang="en-US" altLang="zh-CN"/>
              <a:t>——节点主机(dataHost)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&lt;dataHost name="demo" maxCon="1000" minCon="10" balance="0"</a:t>
            </a:r>
            <a:endParaRPr lang="zh-CN" altLang="en-US"/>
          </a:p>
          <a:p>
            <a:r>
              <a:rPr lang="zh-CN" altLang="en-US"/>
              <a:t>			writeType="0" dbType="mysql" dbDriver="native" </a:t>
            </a:r>
            <a:r>
              <a:rPr lang="en-US" altLang="zh-CN"/>
              <a:t>				</a:t>
            </a:r>
            <a:r>
              <a:rPr lang="zh-CN" altLang="en-US"/>
              <a:t>switchType="1"  slaveThreshold="100"&gt;</a:t>
            </a:r>
            <a:endParaRPr lang="zh-CN" altLang="en-US"/>
          </a:p>
          <a:p>
            <a:r>
              <a:rPr lang="zh-CN" altLang="en-US"/>
              <a:t>		&lt;heartbeat&gt;select user()&lt;/heartbeat&gt;</a:t>
            </a:r>
            <a:endParaRPr lang="zh-CN" altLang="en-US"/>
          </a:p>
          <a:p>
            <a:r>
              <a:rPr lang="zh-CN" altLang="en-US"/>
              <a:t>		&lt;writeHost host="hostM1" url="localhost:3307" </a:t>
            </a:r>
            <a:r>
              <a:rPr lang="en-US" altLang="zh-CN"/>
              <a:t>					</a:t>
            </a:r>
            <a:r>
              <a:rPr lang="zh-CN" altLang="en-US"/>
              <a:t>user="root" password="root"&gt;</a:t>
            </a:r>
            <a:endParaRPr lang="zh-CN" altLang="en-US"/>
          </a:p>
          <a:p>
            <a:r>
              <a:rPr lang="zh-CN" altLang="en-US"/>
              <a:t>			&lt;readHost host="hostS2" url="localhost:3308" </a:t>
            </a:r>
            <a:r>
              <a:rPr lang="en-US" altLang="zh-CN"/>
              <a:t>					</a:t>
            </a:r>
            <a:r>
              <a:rPr lang="zh-CN" altLang="en-US"/>
              <a:t>user="root" password="root" /&gt;</a:t>
            </a:r>
            <a:endParaRPr lang="zh-CN" altLang="en-US"/>
          </a:p>
          <a:p>
            <a:r>
              <a:rPr lang="zh-CN" altLang="en-US"/>
              <a:t>		&lt;/writeHost&gt;</a:t>
            </a:r>
            <a:endParaRPr lang="zh-CN" altLang="en-US"/>
          </a:p>
          <a:p>
            <a:r>
              <a:rPr lang="zh-CN" altLang="en-US"/>
              <a:t>&lt;/dataHost&gt;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概念</a:t>
            </a:r>
            <a:r>
              <a:rPr lang="en-US" altLang="zh-CN">
                <a:sym typeface="+mn-ea"/>
              </a:rPr>
              <a:t>——节点主机(dataHost)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balance="0", 不开启读写分离机制，所有读操作都发送到当前</a:t>
            </a:r>
            <a:r>
              <a:rPr lang="zh-CN" altLang="en-US">
                <a:sym typeface="+mn-ea"/>
              </a:rPr>
              <a:t>使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用的</a:t>
            </a:r>
            <a:r>
              <a:rPr lang="zh-CN" altLang="en-US">
                <a:sym typeface="+mn-ea"/>
              </a:rPr>
              <a:t>读节点</a:t>
            </a:r>
            <a:r>
              <a:rPr lang="en-US" altLang="zh-CN">
                <a:sym typeface="+mn-ea"/>
              </a:rPr>
              <a:t>上。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balance="1"，</a:t>
            </a:r>
            <a:r>
              <a:rPr lang="zh-CN" altLang="en-US">
                <a:sym typeface="+mn-ea"/>
              </a:rPr>
              <a:t>除了当前使用的写节点之外的所有读写节点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如果只有当前写节点除外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balance="2"，</a:t>
            </a:r>
            <a:r>
              <a:rPr lang="zh-CN" altLang="en-US">
                <a:sym typeface="+mn-ea"/>
              </a:rPr>
              <a:t>所有读写节点</a:t>
            </a:r>
            <a:r>
              <a:rPr lang="en-US" altLang="zh-CN">
                <a:sym typeface="+mn-ea"/>
              </a:rPr>
              <a:t>上</a:t>
            </a:r>
            <a:r>
              <a:rPr lang="zh-CN" altLang="en-US">
                <a:sym typeface="+mn-ea"/>
              </a:rPr>
              <a:t>随机</a:t>
            </a:r>
            <a:r>
              <a:rPr lang="en-US" altLang="zh-CN">
                <a:sym typeface="+mn-ea"/>
              </a:rPr>
              <a:t>分发。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balance="3"，</a:t>
            </a:r>
            <a:r>
              <a:rPr lang="zh-CN">
                <a:sym typeface="+mn-ea"/>
              </a:rPr>
              <a:t>当前读节点所属的写节点。</a:t>
            </a:r>
            <a:endParaRPr lang="zh-CN">
              <a:sym typeface="+mn-ea"/>
            </a:endParaRPr>
          </a:p>
          <a:p>
            <a:r>
              <a:rPr lang="en-US" altLang="zh-CN">
                <a:sym typeface="+mn-ea"/>
              </a:rPr>
              <a:t>demo</a:t>
            </a:r>
            <a:r>
              <a:rPr lang="zh-CN" altLang="en-US">
                <a:sym typeface="+mn-ea"/>
              </a:rPr>
              <a:t>中配置了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，即读写都是往</a:t>
            </a:r>
            <a:r>
              <a:rPr lang="en-US" altLang="zh-CN">
                <a:sym typeface="+mn-ea"/>
              </a:rPr>
              <a:t>writeHost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概念</a:t>
            </a:r>
            <a:r>
              <a:rPr lang="en-US" altLang="zh-CN">
                <a:sym typeface="+mn-ea"/>
              </a:rPr>
              <a:t>——节点主机(dataHost)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1. writeType="0", 所有写操作发送到配置的第一个 writeHost，第一个挂了切到还生存的第二个writeHost，重新启动后以切换后的为准，切换记录在配置文件中:dnindex.properties .</a:t>
            </a:r>
            <a:endParaRPr lang="zh-CN" altLang="en-US"/>
          </a:p>
          <a:p>
            <a:r>
              <a:rPr lang="zh-CN" altLang="en-US"/>
              <a:t>2. writeType="1"，所有写操作都随机的发送到配置的 writeHost，</a:t>
            </a:r>
            <a:endParaRPr lang="zh-CN" altLang="en-US"/>
          </a:p>
          <a:p>
            <a:r>
              <a:rPr lang="zh-CN" altLang="en-US"/>
              <a:t>1.5 以后废弃不推荐。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r>
              <a:rPr lang="en-US" altLang="zh-CN" dirty="0"/>
              <a:t>——</a:t>
            </a:r>
            <a:r>
              <a:rPr lang="zh-CN" altLang="en-US" dirty="0"/>
              <a:t>分片节点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dataNode 标签定义了 MyCat 中的数据节点，也就是我们通常说所的数据分片。一个 dataNode 标签就是一个独立的数据分片。</a:t>
            </a:r>
            <a:endParaRPr dirty="0"/>
          </a:p>
          <a:p>
            <a:r>
              <a:rPr dirty="0"/>
              <a:t>&lt;dataNode name="test1" dataHost="demo" database="db1" /&gt;</a:t>
            </a:r>
            <a:endParaRPr dirty="0"/>
          </a:p>
          <a:p>
            <a:r>
              <a:rPr dirty="0"/>
              <a:t>&lt;dataNode name="test2" dataHost="demo" database="db2" /&gt;</a:t>
            </a:r>
            <a:endParaRPr dirty="0"/>
          </a:p>
          <a:p>
            <a:endParaRPr dirty="0"/>
          </a:p>
          <a:p>
            <a:r>
              <a:rPr dirty="0"/>
              <a:t>&lt;table name="role" dataNode="test1,test2" primaryKey="role_id" autoIncrement="true" rule="mod-long" &gt;</a:t>
            </a:r>
            <a:endParaRPr dirty="0"/>
          </a:p>
          <a:p>
            <a:r>
              <a:rPr lang="en-US" altLang="zh-CN" dirty="0"/>
              <a:t>role</a:t>
            </a:r>
            <a:r>
              <a:rPr lang="zh-CN" altLang="en-US" dirty="0"/>
              <a:t>表的数据就是</a:t>
            </a:r>
            <a:r>
              <a:rPr lang="en-US" altLang="zh-CN" dirty="0"/>
              <a:t>test1,test2</a:t>
            </a:r>
            <a:r>
              <a:rPr lang="zh-CN" altLang="en-US" dirty="0"/>
              <a:t>这两个分片节点上的数据之和。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概念</a:t>
            </a:r>
            <a:r>
              <a:rPr lang="en-US" altLang="zh-CN"/>
              <a:t>——</a:t>
            </a:r>
            <a:r>
              <a:rPr lang="zh-CN" altLang="en-US"/>
              <a:t>逻辑库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fontAlgn="auto">
              <a:lnSpc>
                <a:spcPct val="100000"/>
              </a:lnSpc>
            </a:pPr>
            <a:r>
              <a:rPr lang="zh-CN" altLang="en-US"/>
              <a:t>&lt;schema name="TESTDB" checkSQLschema="false" sqlMaxLimit="100"&gt;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schema 标签用于定义 MyCat 实例中的逻辑库，MyCat 可以有多个逻辑库，每个逻辑库都有自己的相关配置。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en-US" altLang="zh-CN">
                <a:sym typeface="+mn-ea"/>
              </a:rPr>
              <a:t>c</a:t>
            </a:r>
            <a:r>
              <a:rPr lang="zh-CN" altLang="en-US">
                <a:sym typeface="+mn-ea"/>
              </a:rPr>
              <a:t>heckSQLschema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当该值设置为 true 时，如果我们执行语句select * from 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TESTDB.</a:t>
            </a:r>
            <a:r>
              <a:rPr lang="en-US" altLang="zh-CN">
                <a:sym typeface="+mn-ea"/>
              </a:rPr>
              <a:t>user</a:t>
            </a:r>
            <a:r>
              <a:rPr lang="zh-CN" altLang="en-US">
                <a:sym typeface="+mn-ea"/>
              </a:rPr>
              <a:t>;则 MyCat 会把语句修改为select * from </a:t>
            </a:r>
            <a:r>
              <a:rPr lang="en-US" altLang="zh-CN">
                <a:sym typeface="+mn-ea"/>
              </a:rPr>
              <a:t>user</a:t>
            </a:r>
            <a:r>
              <a:rPr lang="zh-CN" altLang="en-US">
                <a:sym typeface="+mn-ea"/>
              </a:rPr>
              <a:t>;。即把表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示schema 的字符去掉，避免发送到后端数据库执行时报错，因为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TESTDB只是一个逻辑库，</a:t>
            </a:r>
            <a:r>
              <a:rPr lang="zh-CN" altLang="en-US">
                <a:sym typeface="+mn-ea"/>
              </a:rPr>
              <a:t>提供 SQL语句的最好是不带这个字段。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6060"/>
            <a:ext cx="10515600" cy="1325563"/>
          </a:xfrm>
        </p:spPr>
        <p:txBody>
          <a:bodyPr>
            <a:normAutofit/>
          </a:bodyPr>
          <a:p>
            <a:r>
              <a:rPr lang="zh-CN" altLang="en-US">
                <a:sym typeface="+mn-ea"/>
              </a:rPr>
              <a:t>概念</a:t>
            </a:r>
            <a:r>
              <a:rPr lang="en-US" altLang="zh-CN">
                <a:sym typeface="+mn-ea"/>
              </a:rPr>
              <a:t>——</a:t>
            </a:r>
            <a:r>
              <a:rPr lang="zh-CN" altLang="en-US">
                <a:sym typeface="+mn-ea"/>
              </a:rPr>
              <a:t>逻辑库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1940"/>
            <a:ext cx="10515600" cy="4436110"/>
          </a:xfrm>
        </p:spPr>
        <p:txBody>
          <a:bodyPr>
            <a:noAutofit/>
          </a:bodyPr>
          <a:p>
            <a:pPr fontAlgn="auto">
              <a:lnSpc>
                <a:spcPct val="100000"/>
              </a:lnSpc>
            </a:pPr>
            <a:r>
              <a:rPr lang="zh-CN" altLang="en-US"/>
              <a:t>sqlMaxLimit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当该值设置为某个数值时。每条执行的 SQL 语句，如果没有加上 limit 语句，MyCat 也会自动的加上所对应的值。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不设置该值的话，MyCat 默认会把查询到的信息全部都展示出来，造成过多的输出。所以，在正常使用中，还是建议加上一个值，用于减少过多的数据返回。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当然 SQL 语句中也显式的指定 limit 的大小，不受该属性的约束。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概念</a:t>
            </a:r>
            <a:r>
              <a:rPr lang="en-US" altLang="zh-CN" dirty="0"/>
              <a:t>——</a:t>
            </a:r>
            <a:r>
              <a:rPr lang="zh-CN" altLang="en-US" dirty="0"/>
              <a:t>逻辑表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&lt;table name="</a:t>
            </a:r>
            <a:r>
              <a:rPr lang="en-US" altLang="zh-CN" dirty="0">
                <a:sym typeface="+mn-ea"/>
              </a:rPr>
              <a:t>test</a:t>
            </a:r>
            <a:r>
              <a:rPr lang="zh-CN" altLang="en-US" dirty="0">
                <a:sym typeface="+mn-ea"/>
              </a:rPr>
              <a:t>" dataNode="dn1,dn2,dn3" rule="auto-sharding-long" &gt;&lt;/table&gt;</a:t>
            </a:r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Table 标签定义了 MyCat 中的逻辑表，所有需要拆分的表都需要在这个标签中定义。</a:t>
            </a:r>
            <a:endParaRPr lang="zh-CN" altLang="en-US" dirty="0">
              <a:sym typeface="+mn-ea"/>
            </a:endParaRPr>
          </a:p>
          <a:p>
            <a:r>
              <a:rPr lang="zh-CN" altLang="en-US">
                <a:sym typeface="+mn-ea"/>
              </a:rPr>
              <a:t> rule 属性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该属性用于指定逻辑表要使用的分片规则名字，规则名字在 rule.xml 中定义。</a:t>
            </a:r>
            <a:endParaRPr lang="zh-CN" altLang="en-US"/>
          </a:p>
          <a:p>
            <a:r>
              <a:rPr lang="zh-CN" altLang="en-US">
                <a:sym typeface="+mn-ea"/>
              </a:rPr>
              <a:t>primaryKey 属性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该逻辑表对应真实表的主键。</a:t>
            </a:r>
            <a:endParaRPr lang="zh-CN" altLang="en-US"/>
          </a:p>
          <a:p>
            <a:endParaRPr lang="zh-CN" altLang="en-US" dirty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概念</a:t>
            </a:r>
            <a:r>
              <a:rPr lang="en-US" altLang="zh-CN" dirty="0">
                <a:sym typeface="+mn-ea"/>
              </a:rPr>
              <a:t>——</a:t>
            </a:r>
            <a:r>
              <a:rPr lang="zh-CN" altLang="en-US" dirty="0">
                <a:sym typeface="+mn-ea"/>
              </a:rPr>
              <a:t>逻辑表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type 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该属性定义了逻辑表的类型，目前逻辑表只有“全局表”和”普通表”两种类型。全局表：global。普通表：不指定该值为 globla 的所有表。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autoIncrement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 设置</a:t>
            </a:r>
            <a:r>
              <a:rPr lang="en-US" altLang="zh-CN">
                <a:sym typeface="+mn-ea"/>
              </a:rPr>
              <a:t>true</a:t>
            </a:r>
            <a:r>
              <a:rPr lang="zh-CN" altLang="en-US">
                <a:sym typeface="+mn-ea"/>
              </a:rPr>
              <a:t>，在查询或者插入的时候如果没有主键，</a:t>
            </a:r>
            <a:r>
              <a:rPr lang="en-US" altLang="zh-CN">
                <a:sym typeface="+mn-ea"/>
              </a:rPr>
              <a:t>mycat</a:t>
            </a:r>
            <a:r>
              <a:rPr lang="zh-CN" altLang="en-US">
                <a:sym typeface="+mn-ea"/>
              </a:rPr>
              <a:t>会根据配置生成一个全局序列号，然后改写</a:t>
            </a:r>
            <a:r>
              <a:rPr lang="en-US" altLang="zh-CN">
                <a:sym typeface="+mn-ea"/>
              </a:rPr>
              <a:t>sql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insert into table1(name) values(‘ test’ );</a:t>
            </a:r>
            <a:endParaRPr lang="zh-CN" altLang="en-US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insert into table1(id,name) values(next value for MYCATSEQ_GLOBAL,‘ test’ );</a:t>
            </a:r>
            <a:endParaRPr lang="en-US" altLang="zh-CN"/>
          </a:p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全局序列号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1本地文件方式</a:t>
            </a:r>
            <a:endParaRPr lang="en-US" altLang="zh-CN" dirty="0"/>
          </a:p>
        </p:txBody>
      </p:sp>
      <p:sp>
        <p:nvSpPr>
          <p:cNvPr id="2" name="内容占位符 1"/>
          <p:cNvSpPr/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>
                <a:sym typeface="+mn-ea"/>
              </a:rPr>
              <a:t>原理：此方式 MyCAT 将 sequence 配置到文件中，当使用到 sequence 中的配置后，MyCAT 会更下classpath 中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sequence_conf.properties 文件中 sequence 当前的值。</a:t>
            </a:r>
            <a:endParaRPr lang="en-US" altLang="zh-CN"/>
          </a:p>
          <a:p>
            <a:r>
              <a:rPr lang="en-US" altLang="zh-CN">
                <a:sym typeface="+mn-ea"/>
              </a:rPr>
              <a:t>配置方式：在 sequence_conf.properties 文件中做如下配置：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GLOBAL_SEQ.HISIDS=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GLOBAL_SEQ.MINID=1001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GLOBAL_SEQ.MAXID=1000000000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GLOBAL_SEQ.CURID=1000</a:t>
            </a:r>
            <a:endParaRPr lang="en-US" altLang="zh-CN"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ym typeface="+mn-ea"/>
              </a:rPr>
              <a:t>其中 HISIDS 表示使用过的历史分段(一般无特殊需要可不配置)，MINID 表示最小 ID 值，MAXID 表示最大ID 值，CURID 表示当前 ID 值。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1本地文件方式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server.xml 中配置：</a:t>
            </a:r>
            <a:endParaRPr lang="en-US" altLang="zh-CN"/>
          </a:p>
          <a:p>
            <a:r>
              <a:rPr lang="en-US" altLang="zh-CN"/>
              <a:t>&lt;system&gt;&lt;property name="sequnceHandlerType"&gt;0&lt;/property&gt;&lt;/system&gt;</a:t>
            </a:r>
            <a:endParaRPr lang="en-US" altLang="zh-CN"/>
          </a:p>
          <a:p>
            <a:r>
              <a:rPr lang="en-US" altLang="zh-CN"/>
              <a:t>注：sequnceHandlerType 需要配置为 0，表示使用本地文件方式。</a:t>
            </a:r>
            <a:endParaRPr lang="en-US" altLang="zh-CN"/>
          </a:p>
          <a:p>
            <a:r>
              <a:rPr lang="en-US" altLang="zh-CN"/>
              <a:t>使用示例：</a:t>
            </a:r>
            <a:endParaRPr lang="en-US" altLang="zh-CN"/>
          </a:p>
          <a:p>
            <a:r>
              <a:rPr lang="en-US" altLang="zh-CN"/>
              <a:t>insert into table1(id,name) values(next value for MYCATSEQ_GLOBAL,‘ test’ );</a:t>
            </a:r>
            <a:endParaRPr lang="en-US" altLang="zh-CN"/>
          </a:p>
          <a:p>
            <a:r>
              <a:rPr lang="en-US" altLang="zh-CN"/>
              <a:t>缺点：当 MyCAT 重新发布后，配置文件中的 sequence 会恢复到初始值。</a:t>
            </a:r>
            <a:endParaRPr lang="en-US" altLang="zh-CN"/>
          </a:p>
          <a:p>
            <a:r>
              <a:rPr lang="en-US" altLang="zh-CN"/>
              <a:t>优点：本地加载，读取速度较快。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数据库方式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原理：</a:t>
            </a:r>
            <a:r>
              <a:rPr lang="zh-CN" altLang="en-US"/>
              <a:t>在数据库中建立一张表，存放 </a:t>
            </a:r>
            <a:endParaRPr lang="zh-CN" altLang="en-US"/>
          </a:p>
          <a:p>
            <a:r>
              <a:rPr lang="zh-CN" altLang="en-US"/>
              <a:t>sequence 名称(name)，</a:t>
            </a:r>
            <a:endParaRPr lang="zh-CN" altLang="en-US"/>
          </a:p>
          <a:p>
            <a:r>
              <a:rPr lang="zh-CN" altLang="en-US"/>
              <a:t>sequence 当前值(current_value)，</a:t>
            </a:r>
            <a:endParaRPr lang="zh-CN" altLang="en-US"/>
          </a:p>
          <a:p>
            <a:r>
              <a:rPr lang="zh-CN" altLang="en-US"/>
              <a:t>步长(increment int 类型每次读取多少个 sequence，假设为 K</a:t>
            </a:r>
            <a:endParaRPr lang="zh-CN" altLang="en-US"/>
          </a:p>
          <a:p>
            <a:r>
              <a:rPr lang="zh-CN" altLang="en-US"/>
              <a:t>可理解为 mycat 在数据库中一次读取多少个 sequence. 当这些用完后, 下次再从数据库中读取</a:t>
            </a:r>
            <a:r>
              <a:rPr lang="en-US" altLang="zh-CN"/>
              <a:t>)</a:t>
            </a:r>
            <a:endParaRPr lang="en-US" alt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2</a:t>
            </a:r>
            <a:r>
              <a:rPr lang="zh-CN" altLang="en-US" dirty="0">
                <a:sym typeface="+mn-ea"/>
              </a:rPr>
              <a:t>数据库方式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r>
              <a:rPr smtClean="0"/>
              <a:t>Sequence 获取步骤：</a:t>
            </a:r>
            <a:endParaRPr smtClean="0"/>
          </a:p>
          <a:p>
            <a:r>
              <a:rPr smtClean="0"/>
              <a:t>1).当初次使用该 sequence 时，根据传入的 sequence 名称，从数据库这张表中读取 current_value，和</a:t>
            </a:r>
            <a:endParaRPr smtClean="0"/>
          </a:p>
          <a:p>
            <a:r>
              <a:rPr smtClean="0"/>
              <a:t>increment 到 MyCat 中，并将数据库中的 current_value 设置为原 current_value 值+increment 值；</a:t>
            </a:r>
            <a:endParaRPr smtClean="0"/>
          </a:p>
          <a:p>
            <a:r>
              <a:rPr smtClean="0"/>
              <a:t>.MyCat 将读取到 current_value+increment 作为本次要使用的 sequence 值，下次使用时，自动加 1，当</a:t>
            </a:r>
            <a:endParaRPr smtClean="0"/>
          </a:p>
          <a:p>
            <a:r>
              <a:rPr smtClean="0"/>
              <a:t>使用 increment 次后，执行步骤 1)相同的操作.</a:t>
            </a:r>
            <a:endParaRPr smtClean="0"/>
          </a:p>
          <a:p>
            <a:r>
              <a:rPr smtClean="0"/>
              <a:t>MyCat 负责维护这张表，用到哪些 sequence，只需要在这张表中插入一条记录即可。若某次读取的</a:t>
            </a:r>
            <a:endParaRPr smtClean="0"/>
          </a:p>
          <a:p>
            <a:r>
              <a:rPr smtClean="0"/>
              <a:t>sequence 没有用完，系统就停掉了，则这次读取的 sequence 剩余值不会再使用。</a:t>
            </a:r>
            <a:endParaRPr smtClean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2</a:t>
            </a:r>
            <a:r>
              <a:rPr lang="zh-CN" altLang="en-US" dirty="0">
                <a:sym typeface="+mn-ea"/>
              </a:rPr>
              <a:t>数据库方式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配置方式：</a:t>
            </a:r>
            <a:endParaRPr lang="en-US" altLang="zh-CN" dirty="0"/>
          </a:p>
          <a:p>
            <a:r>
              <a:rPr lang="en-US" altLang="zh-CN" dirty="0"/>
              <a:t>server.xml 配置：</a:t>
            </a:r>
            <a:endParaRPr lang="en-US" altLang="zh-CN" dirty="0"/>
          </a:p>
          <a:p>
            <a:r>
              <a:rPr lang="en-US" altLang="zh-CN" dirty="0"/>
              <a:t>&lt;system&gt;&lt;property name="sequnceHandlerType"&gt;1&lt;/property&gt;&lt;/system&gt;</a:t>
            </a:r>
            <a:endParaRPr lang="en-US" altLang="zh-CN" dirty="0"/>
          </a:p>
          <a:p>
            <a:r>
              <a:rPr lang="en-US" altLang="zh-CN" dirty="0"/>
              <a:t>注：sequnceHandlerType 需要配置为 1，表示使用数据库方式生成 sequence</a:t>
            </a:r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3本地时间戳方式</a:t>
            </a:r>
            <a:endParaRPr lang="en-US">
              <a:sym typeface="+mn-ea"/>
            </a:endParaRPr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p>
            <a:r>
              <a:rPr lang="zh-CN" altLang="en-US"/>
              <a:t>ID= 64 位二进制 (42(毫秒)+5(机器 ID)+5(业务编码)+12(重复累加)</a:t>
            </a:r>
            <a:endParaRPr lang="zh-CN" altLang="en-US"/>
          </a:p>
          <a:p>
            <a:r>
              <a:rPr lang="zh-CN" altLang="en-US"/>
              <a:t>换算成十进制为 18 位数的 long 类型，每毫秒可以并发 12 位二进制的累加。</a:t>
            </a:r>
            <a:endParaRPr lang="zh-CN" altLang="en-US"/>
          </a:p>
          <a:p>
            <a:r>
              <a:rPr lang="zh-CN" altLang="en-US"/>
              <a:t>除了最高位bit标记为不可用以外，其余三组bit占位均可浮动，看具体的业务需求而定。默认情况下41bit的时间戳可以支持该算法使用到2082年，10bit的工作机器id可以支持1023台机器，序列号支持1毫秒产生4095个自增序列id。下文会具体分析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 </a:t>
            </a:r>
            <a:r>
              <a:rPr lang="zh-CN" altLang="en-US"/>
              <a:t> ZK ID 生成器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还有</a:t>
            </a:r>
            <a:r>
              <a:rPr lang="en-US" altLang="zh-CN"/>
              <a:t>2</a:t>
            </a:r>
            <a:r>
              <a:rPr lang="zh-CN" altLang="en-US"/>
              <a:t>种使用</a:t>
            </a:r>
            <a:r>
              <a:rPr lang="en-US" altLang="zh-CN"/>
              <a:t>zk</a:t>
            </a:r>
            <a:r>
              <a:rPr lang="zh-CN" altLang="en-US"/>
              <a:t>生成全局序列号。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mycat </a:t>
            </a:r>
            <a:r>
              <a:rPr lang="zh-CN" altLang="en-US"/>
              <a:t>查询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分页查询（无</a:t>
            </a:r>
            <a:r>
              <a:rPr lang="en-US" altLang="zh-CN"/>
              <a:t>offset</a:t>
            </a:r>
            <a:r>
              <a:rPr lang="zh-CN" altLang="en-US"/>
              <a:t>，无</a:t>
            </a:r>
            <a:r>
              <a:rPr lang="en-US" altLang="zh-CN"/>
              <a:t>orderby</a:t>
            </a:r>
            <a:r>
              <a:rPr lang="zh-CN" altLang="en-US"/>
              <a:t>的情况）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select * from table limit 2;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返回的结果集取决于哪个DB节点最先返回结果给Mycat</a:t>
            </a:r>
            <a:r>
              <a:rPr lang="en-US" altLang="zh-CN"/>
              <a:t>,相同情况下，同一个SQL，在Mycat上执行时会有不同的返回结果。</a:t>
            </a:r>
            <a:endParaRPr lang="en-US" altLang="zh-CN"/>
          </a:p>
          <a:p>
            <a:r>
              <a:rPr lang="zh-CN" altLang="en-US">
                <a:sym typeface="+mn-ea"/>
              </a:rPr>
              <a:t>分页查询（无</a:t>
            </a:r>
            <a:r>
              <a:rPr lang="en-US" altLang="zh-CN">
                <a:sym typeface="+mn-ea"/>
              </a:rPr>
              <a:t>offset</a:t>
            </a:r>
            <a:r>
              <a:rPr lang="zh-CN" altLang="en-US">
                <a:sym typeface="+mn-ea"/>
              </a:rPr>
              <a:t>，有</a:t>
            </a:r>
            <a:r>
              <a:rPr lang="en-US" altLang="zh-CN">
                <a:sym typeface="+mn-ea"/>
              </a:rPr>
              <a:t>orderby</a:t>
            </a:r>
            <a:r>
              <a:rPr lang="zh-CN" altLang="en-US">
                <a:sym typeface="+mn-ea"/>
              </a:rPr>
              <a:t>的情况）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select * from table order by id limit 2;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接收到各个DB节点的返回结果后，对其进行最小堆运算，计算出所有结果集中最小的两条记录返回给应用。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mycat </a:t>
            </a:r>
            <a:r>
              <a:rPr lang="zh-CN" altLang="en-US">
                <a:sym typeface="+mn-ea"/>
              </a:rPr>
              <a:t>查询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分页查询（有</a:t>
            </a:r>
            <a:r>
              <a:rPr lang="en-US" altLang="zh-CN">
                <a:sym typeface="+mn-ea"/>
              </a:rPr>
              <a:t>offset</a:t>
            </a:r>
            <a:r>
              <a:rPr lang="zh-CN" altLang="en-US">
                <a:sym typeface="+mn-ea"/>
              </a:rPr>
              <a:t>，有</a:t>
            </a:r>
            <a:r>
              <a:rPr lang="en-US" altLang="zh-CN">
                <a:sym typeface="+mn-ea"/>
              </a:rPr>
              <a:t>orderby</a:t>
            </a:r>
            <a:r>
              <a:rPr lang="zh-CN" altLang="en-US">
                <a:sym typeface="+mn-ea"/>
              </a:rPr>
              <a:t>的情况）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select * from table order by id limit 5,2;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limit m,n 的SQL语句时会对其进行改写，改写成 limit 0, m+n 来保证查询结果的逻辑正确性。所以，Mycat发送到后端DB上的SQL语句是select * from table order by id limit 0,7;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对于有 t 个DB节点的全分片 limit m, n 操作，Mycat需要处理的数据量为 (m+n)*t 个。比如实际应用中有50个DB节点，要执行limit 1000,10操作，则Mycat处理的数据量为 50500 条，返回结果集为10，当偏移量更大时，内存和CPU资源的消耗则是数十倍增加。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事务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用户会话 Session 中设定 autocommit=false，开启一个事务过程，这个会话中随后的所有 SQL 语句进入事务模式，ServerConnection（前端连接）中有一个变量 txInterrupted 控制是否事务异常需要回滚。</a:t>
            </a:r>
            <a:endParaRPr lang="zh-CN" altLang="en-US"/>
          </a:p>
          <a:p>
            <a:r>
              <a:rPr lang="zh-CN" altLang="en-US"/>
              <a:t>当某个 SQL 执行过程中发生错误，则设置 txInterrupted=true，表明此事务需要回滚。当用户提交事务（commit 指令）的时候，Session 会检查事务回滚变量，若发现事务需要回滚，则取消Commit 指令在相关节点上的执行过程，返回错误信息，Transaction need rollback，用户只能回滚事务，</a:t>
            </a:r>
            <a:endParaRPr lang="zh-CN" altLang="en-US"/>
          </a:p>
          <a:p>
            <a:r>
              <a:rPr lang="zh-CN" altLang="en-US"/>
              <a:t>若所有节点都执行成功，则向每个节点发送 Commit 指令，事务结束。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弱</a:t>
            </a:r>
            <a:r>
              <a:rPr lang="en-US" altLang="zh-CN"/>
              <a:t>XA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Mycat 的事务是一种弱 XA 的事务，与 XA 事务相似的地方是，只</a:t>
            </a:r>
            <a:endParaRPr lang="zh-CN" altLang="en-US"/>
          </a:p>
          <a:p>
            <a:r>
              <a:rPr lang="zh-CN" altLang="en-US"/>
              <a:t>有所有节点都执行成功（Prepare 阶段都成功），才开始提交事务，</a:t>
            </a:r>
            <a:endParaRPr lang="zh-CN" altLang="en-US"/>
          </a:p>
          <a:p>
            <a:r>
              <a:rPr lang="zh-CN" altLang="en-US"/>
              <a:t>与 XA 不同的是，在提交阶段，若某个节点宕机，没有手段让</a:t>
            </a:r>
            <a:endParaRPr lang="zh-CN" altLang="en-US"/>
          </a:p>
          <a:p>
            <a:r>
              <a:rPr lang="zh-CN" altLang="en-US"/>
              <a:t>此事务在故障节点恢复以后继续执行。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弱</a:t>
            </a:r>
            <a:r>
              <a:rPr lang="en-US" altLang="zh-CN">
                <a:sym typeface="+mn-ea"/>
              </a:rPr>
              <a:t>XA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begin开启事务，Mycat不会立即把命令发送到DB节点上，等后续下发SQL时，Mycat从连接池获取非自动提交的连接去执行。</a:t>
            </a:r>
            <a:endParaRPr lang="zh-CN" altLang="en-US"/>
          </a:p>
          <a:p>
            <a:r>
              <a:rPr lang="zh-CN" altLang="en-US"/>
              <a:t>Mycat会等待各个节点的返回结果，如果都执行成功，Mycat给该连接标识为 Prepare Ready 状态，如果有一个节点执行失败，则标识为 Rollback 状态。</a:t>
            </a:r>
            <a:endParaRPr lang="zh-CN" altLang="en-US"/>
          </a:p>
          <a:p>
            <a:r>
              <a:rPr lang="zh-CN" altLang="en-US"/>
              <a:t>执行完成后Mycat等待前端发送 commit 或 rollback 命令。发送 commit 命令时，Mycat检测当前连接是否为 Prepare Ready 状态，若是，则将 commit 命令发送到各个DB节点。</a:t>
            </a:r>
            <a:endParaRPr lang="zh-CN" altLang="en-US"/>
          </a:p>
          <a:p>
            <a:r>
              <a:rPr lang="zh-CN" altLang="en-US"/>
              <a:t>但是，这一阶段是无法保证一致性的，如果一个DB节点在 commit 时故障，而其他DB节点 commit 成功，Mycat会一直等待故障DB节点返回结果。Mycat只有收到所有DB节点的成功执行结果才会向前端返回 执行成功 的包，此时Mycat只能一直 waiting 直至TIMEOUT，导致事务一致性被破坏。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分片规则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分片规则用于定义数据与分片的路由关系，也就是 如何将 sql 路由到对应的分片执行。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1 分片枚举 PartitionByFileMap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通过在配置文件中配置可能的枚举 id，自己配置分片，本规则适用于特定的场景，比如有些业务需要按照省份或区县来做保存，而全国省份区县固定的，这类业务使用本条规则。</a:t>
            </a:r>
            <a:endParaRPr lang="zh-CN" altLang="en-US"/>
          </a:p>
          <a:p>
            <a:r>
              <a:rPr lang="zh-CN" altLang="en-US"/>
              <a:t>支持数字和字符串</a:t>
            </a:r>
            <a:endParaRPr lang="zh-CN" altLang="en-US"/>
          </a:p>
          <a:p>
            <a:r>
              <a:rPr lang="zh-CN" altLang="en-US"/>
              <a:t>10000=0</a:t>
            </a:r>
            <a:endParaRPr lang="zh-CN" altLang="en-US"/>
          </a:p>
          <a:p>
            <a:r>
              <a:rPr lang="zh-CN" altLang="en-US"/>
              <a:t>10010=1</a:t>
            </a:r>
            <a:endParaRPr lang="zh-CN" altLang="en-US"/>
          </a:p>
          <a:p>
            <a:r>
              <a:rPr lang="zh-CN" altLang="en-US"/>
              <a:t>杭州</a:t>
            </a:r>
            <a:r>
              <a:rPr lang="en-US" altLang="zh-CN"/>
              <a:t>=2</a:t>
            </a:r>
            <a:endParaRPr lang="en-US" altLang="zh-C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 固定分片 hash 算法 PartitionByLong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 |&lt;———————1024———————————&gt;|</a:t>
            </a:r>
            <a:endParaRPr lang="zh-CN" altLang="en-US"/>
          </a:p>
          <a:p>
            <a:r>
              <a:rPr lang="zh-CN" altLang="en-US"/>
              <a:t>// |&lt;—-256—&gt;|&lt;—-256—&gt;|&lt;———-512————-&gt;|</a:t>
            </a:r>
            <a:endParaRPr lang="zh-CN" altLang="en-US"/>
          </a:p>
          <a:p>
            <a:r>
              <a:rPr lang="zh-CN" altLang="en-US"/>
              <a:t>// | partition0 | partition1 | partition2 |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对</a:t>
            </a:r>
            <a:r>
              <a:rPr lang="en-US" altLang="zh-CN"/>
              <a:t>2^10</a:t>
            </a:r>
            <a:r>
              <a:rPr lang="zh-CN" altLang="en-US"/>
              <a:t>取模，然后根据配置判断在哪一段中。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3 范围约定 </a:t>
            </a:r>
            <a:r>
              <a:rPr lang="zh-CN" altLang="en-US">
                <a:sym typeface="+mn-ea"/>
              </a:rPr>
              <a:t>AutoPartitionByLong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此分片适用于，提前规划好分片字段某个范围属于哪个分片，</a:t>
            </a:r>
            <a:endParaRPr lang="zh-CN" altLang="en-US"/>
          </a:p>
          <a:p>
            <a:r>
              <a:rPr lang="zh-CN" altLang="en-US"/>
              <a:t>0-500M=0</a:t>
            </a:r>
            <a:endParaRPr lang="zh-CN" altLang="en-US"/>
          </a:p>
          <a:p>
            <a:r>
              <a:rPr lang="zh-CN" altLang="en-US"/>
              <a:t>500M-1000M=1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AutoPartitionByLong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4 </a:t>
            </a:r>
            <a:r>
              <a:rPr lang="zh-CN" altLang="en-US"/>
              <a:t>取模 PartitionByMod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mod </a:t>
            </a:r>
            <a:r>
              <a:rPr lang="zh-CN" altLang="en-US"/>
              <a:t>分片节点数</a:t>
            </a:r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5 按日期（天）分片 PartitionByDate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dateFormat ：日期格式</a:t>
            </a:r>
            <a:endParaRPr lang="zh-CN" altLang="en-US"/>
          </a:p>
          <a:p>
            <a:r>
              <a:rPr lang="zh-CN" altLang="en-US"/>
              <a:t>sBeginDate ：开始日期</a:t>
            </a:r>
            <a:endParaRPr lang="zh-CN" altLang="en-US"/>
          </a:p>
          <a:p>
            <a:r>
              <a:rPr lang="zh-CN" altLang="en-US"/>
              <a:t>sEndDate：结束日期</a:t>
            </a:r>
            <a:endParaRPr lang="zh-CN" altLang="en-US"/>
          </a:p>
          <a:p>
            <a:r>
              <a:rPr lang="zh-CN" altLang="en-US"/>
              <a:t>sPartionDay ：分区天数，即默认从开始日期算起，分隔 10 天一个分区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6-15</a:t>
            </a:r>
            <a:r>
              <a:rPr lang="zh-CN" altLang="en-US"/>
              <a:t>其他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zh-CN"/>
              <a:t>6 取模范围约束</a:t>
            </a:r>
            <a:endParaRPr lang="en-US" altLang="zh-CN"/>
          </a:p>
          <a:p>
            <a:r>
              <a:rPr lang="en-US" altLang="zh-CN"/>
              <a:t>7 截取数字做 hash 求模范围约束</a:t>
            </a:r>
            <a:endParaRPr lang="en-US" altLang="zh-CN"/>
          </a:p>
          <a:p>
            <a:r>
              <a:rPr lang="en-US" altLang="zh-CN"/>
              <a:t>8 应用指定</a:t>
            </a:r>
            <a:endParaRPr lang="en-US" altLang="zh-CN"/>
          </a:p>
          <a:p>
            <a:r>
              <a:rPr lang="en-US" altLang="zh-CN"/>
              <a:t>9 截取数字 hash 解析</a:t>
            </a:r>
            <a:endParaRPr lang="en-US" altLang="zh-CN"/>
          </a:p>
          <a:p>
            <a:r>
              <a:rPr lang="en-US" altLang="zh-CN"/>
              <a:t>10 一致性 hash</a:t>
            </a:r>
            <a:endParaRPr lang="en-US" altLang="zh-CN"/>
          </a:p>
          <a:p>
            <a:r>
              <a:rPr lang="en-US" altLang="zh-CN"/>
              <a:t>11 按单月小时拆分</a:t>
            </a:r>
            <a:endParaRPr lang="en-US" altLang="zh-CN"/>
          </a:p>
          <a:p>
            <a:r>
              <a:rPr lang="en-US" altLang="zh-CN"/>
              <a:t>12 范围求模分片</a:t>
            </a:r>
            <a:endParaRPr lang="en-US" altLang="zh-CN"/>
          </a:p>
          <a:p>
            <a:r>
              <a:rPr lang="en-US" altLang="zh-CN"/>
              <a:t>13 日期范围 hash 分片</a:t>
            </a:r>
            <a:endParaRPr lang="en-US" altLang="zh-CN"/>
          </a:p>
          <a:p>
            <a:r>
              <a:rPr lang="en-US" altLang="zh-CN"/>
              <a:t>14 冷热数据分片</a:t>
            </a:r>
            <a:endParaRPr lang="en-US" altLang="zh-CN"/>
          </a:p>
          <a:p>
            <a:r>
              <a:rPr lang="en-US" altLang="zh-CN"/>
              <a:t>15 按月份列分区 ，每个自然月一个分片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分片</a:t>
            </a:r>
            <a:r>
              <a:rPr lang="en-US" altLang="zh-CN"/>
              <a:t>join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Mycat 目前版本支持跨分片的 join,主要实现的方式有四种。</a:t>
            </a:r>
            <a:endParaRPr lang="zh-CN" altLang="en-US"/>
          </a:p>
          <a:p>
            <a:r>
              <a:rPr lang="zh-CN" altLang="en-US"/>
              <a:t>全局表，ER 分片，catletT(人工智能)和 ShareJoin。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smtClean="0">
                <a:sym typeface="+mn-ea"/>
              </a:rPr>
              <a:t>1</a:t>
            </a:r>
            <a:r>
              <a:rPr lang="zh-CN" altLang="en-US" smtClean="0">
                <a:sym typeface="+mn-ea"/>
              </a:rPr>
              <a:t>字典表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如果你的业务中有些数据类似于数据字典，比如配置文件的配置，常用业务的配置或者数据量不大很少变动的表，这些表往往不是特别大，而且大部分的业务场景都会用到，那么这种表适合于 Mycat 全局表，无须对数据进行切分，只要在所有的分片上保存一份数据即可，Mycat 在 Join 操作中，业务表与全局表进行 Join 聚合会优先选择相同分片内的全局表 join，避免跨库 Join，在进行数据插入操作时，mycat 将把数据分发到全局表对应的所有分片执行，在进行数据读取时候将会随机获取一个节点读取数据。</a:t>
            </a:r>
            <a:endParaRPr lang="zh-CN" altLang="en-US"/>
          </a:p>
          <a:p>
            <a:r>
              <a:rPr lang="en-US" altLang="zh-CN" dirty="0">
                <a:sym typeface="+mn-ea"/>
              </a:rPr>
              <a:t>全局表的插入、更新操作会实时在所有节点上执行，保持各个分片的数据一致性全局表的查询操作，只从一个节点获取全局表可以跟任何一个表进行 JOIN 操作</a:t>
            </a:r>
            <a:endParaRPr lang="en-US" altLang="zh-CN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ym typeface="+mn-ea"/>
              </a:rPr>
              <a:t>1</a:t>
            </a:r>
            <a:r>
              <a:rPr lang="zh-CN" altLang="en-US" smtClean="0">
                <a:sym typeface="+mn-ea"/>
              </a:rPr>
              <a:t>字典表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全局表配置比较简单，不用写 Rule 规则，如下配置即可：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&lt;table name="company" primaryKey="ID" type="global" dataNode="dn1,dn2,dn3" /&gt;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需要注意的是，全局表每个分片节点上都要有运行创建表的 DDL 语句。</a:t>
            </a:r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 </a:t>
            </a:r>
            <a:r>
              <a:rPr lang="zh-CN" altLang="en-US"/>
              <a:t>ER Join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&lt;table name="role" dataNode="test1,test2" primaryKey="role_id" autoIncrement="true" rule="mod-long" &gt;</a:t>
            </a:r>
            <a:endParaRPr lang="zh-CN" altLang="en-US"/>
          </a:p>
          <a:p>
            <a:pPr lvl="1"/>
            <a:r>
              <a:rPr lang="zh-CN" altLang="en-US"/>
              <a:t>&lt;childTable name="user" primaryKey="user_id" joinKey="role_id" </a:t>
            </a:r>
            <a:r>
              <a:rPr lang="en-US" altLang="zh-CN"/>
              <a:t>	</a:t>
            </a:r>
            <a:r>
              <a:rPr lang="zh-CN" altLang="en-US"/>
              <a:t>parentKey="role_id" autoIncrement="true"/&gt;</a:t>
            </a:r>
            <a:endParaRPr lang="zh-CN" altLang="en-US"/>
          </a:p>
          <a:p>
            <a:r>
              <a:rPr lang="zh-CN" altLang="en-US"/>
              <a:t>&lt;/table&gt;</a:t>
            </a:r>
            <a:endParaRPr lang="zh-CN" altLang="en-US"/>
          </a:p>
          <a:p>
            <a:r>
              <a:rPr lang="zh-CN" altLang="en-US"/>
              <a:t>只能支持一对一和一对多的情况。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 </a:t>
            </a:r>
            <a:r>
              <a:rPr lang="zh-CN" altLang="en-US"/>
              <a:t>Share join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目前支持 2 个表的 join,原理就是解析 SQL 语句，拆分成单表的 SQL 语句执行，然后把各个节点的数据汇集。</a:t>
            </a:r>
            <a:endParaRPr lang="zh-CN" altLang="en-US"/>
          </a:p>
          <a:p>
            <a:r>
              <a:rPr lang="zh-CN" altLang="en-US"/>
              <a:t> /*!mycat:catlet=demo.catlets.ShareJoin */ select a.*,b.id, b.name as tit from customer a,company b</a:t>
            </a:r>
            <a:endParaRPr lang="zh-CN" altLang="en-US"/>
          </a:p>
          <a:p>
            <a:r>
              <a:rPr lang="zh-CN" altLang="en-US"/>
              <a:t>on a.company_id=b.id;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 </a:t>
            </a:r>
            <a:r>
              <a:rPr dirty="0"/>
              <a:t>catlet</a:t>
            </a:r>
            <a:r>
              <a:rPr lang="zh-CN" dirty="0"/>
              <a:t>（不介绍）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sym typeface="+mn-ea"/>
              </a:rPr>
              <a:t>mycat提供api ，通过编程解决业务系统中特定几个必须跨分片的SQL 的JOIN 逻辑。</a:t>
            </a:r>
            <a:endParaRPr dirty="0"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</a:t>
            </a:r>
            <a:r>
              <a:rPr dirty="0"/>
              <a:t>Spark/Storm 对 join 扩展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mtClean="0"/>
              <a:t>mycat 后续的功能会引入 spark 和 storm 来做跨分片的 join,大致流程是这样的在 mycat 调用 spark,storm</a:t>
            </a:r>
            <a:endParaRPr lang="en-US" altLang="zh-CN" smtClean="0"/>
          </a:p>
          <a:p>
            <a:r>
              <a:rPr lang="en-US" altLang="zh-CN" smtClean="0"/>
              <a:t>的 api,把数据传送到 spark,storm，在 spark,storm 进行 join,在把数据传回 mycat,mycat 在返回给客户端。</a:t>
            </a:r>
            <a:endParaRPr lang="en-US" altLang="zh-CN" smtClean="0"/>
          </a:p>
          <a:p>
            <a:r>
              <a:rPr lang="zh-CN" altLang="en-US" smtClean="0"/>
              <a:t>未来</a:t>
            </a:r>
            <a:r>
              <a:rPr lang="en-US" altLang="zh-CN" smtClean="0"/>
              <a:t>2.0</a:t>
            </a:r>
            <a:r>
              <a:rPr lang="zh-CN" altLang="en-US" smtClean="0"/>
              <a:t>以上版本可能支持</a:t>
            </a:r>
            <a:endParaRPr lang="zh-CN" altLang="en-US" smtClean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41911" y="3104478"/>
            <a:ext cx="2036129" cy="827442"/>
          </a:xfrm>
        </p:spPr>
        <p:txBody>
          <a:bodyPr/>
          <a:lstStyle/>
          <a:p>
            <a:r>
              <a:rPr lang="en-US" altLang="zh-CN" dirty="0" smtClean="0"/>
              <a:t>END</a:t>
            </a:r>
            <a:br>
              <a:rPr lang="en-US" altLang="zh-CN" dirty="0" smtClean="0"/>
            </a:b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7003</Words>
  <Application>WPS 演示</Application>
  <PresentationFormat>宽屏</PresentationFormat>
  <Paragraphs>271</Paragraphs>
  <Slides>38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Office 主题</vt:lpstr>
      <vt:lpstr>Mycat</vt:lpstr>
      <vt:lpstr>概念——节点主机(dataHost)</vt:lpstr>
      <vt:lpstr>概念——节点主机(dataHost)</vt:lpstr>
      <vt:lpstr>概念——节点主机(dataHost)</vt:lpstr>
      <vt:lpstr>概念——节点主机(dataHost)</vt:lpstr>
      <vt:lpstr>概念——分片节点</vt:lpstr>
      <vt:lpstr>概念——逻辑库</vt:lpstr>
      <vt:lpstr>概念——逻辑库</vt:lpstr>
      <vt:lpstr>概念——逻辑表</vt:lpstr>
      <vt:lpstr>概念——逻辑表</vt:lpstr>
      <vt:lpstr>全局序列号</vt:lpstr>
      <vt:lpstr>1本地文件方式</vt:lpstr>
      <vt:lpstr>1本地文件方式</vt:lpstr>
      <vt:lpstr>2数据库方式</vt:lpstr>
      <vt:lpstr>2数据库方式</vt:lpstr>
      <vt:lpstr>2数据库方式</vt:lpstr>
      <vt:lpstr>3本地时间戳方式</vt:lpstr>
      <vt:lpstr>4  ZK ID 生成器</vt:lpstr>
      <vt:lpstr>mycat 查询</vt:lpstr>
      <vt:lpstr>mycat 查询</vt:lpstr>
      <vt:lpstr>事务</vt:lpstr>
      <vt:lpstr>弱XA</vt:lpstr>
      <vt:lpstr>弱XA</vt:lpstr>
      <vt:lpstr>分片规则</vt:lpstr>
      <vt:lpstr>1 分片枚举</vt:lpstr>
      <vt:lpstr>2 固定分片 hash 算法</vt:lpstr>
      <vt:lpstr>3 范围约定 AutoPartitionByLong</vt:lpstr>
      <vt:lpstr>4 取模 PartitionByMod</vt:lpstr>
      <vt:lpstr>5 按日期（天）分片 PartitionByDate</vt:lpstr>
      <vt:lpstr>6-15其他</vt:lpstr>
      <vt:lpstr>分片join</vt:lpstr>
      <vt:lpstr>1字典表</vt:lpstr>
      <vt:lpstr>1字典表</vt:lpstr>
      <vt:lpstr>2 ER Join</vt:lpstr>
      <vt:lpstr>3 Share join</vt:lpstr>
      <vt:lpstr>4 catlet（不介绍）</vt:lpstr>
      <vt:lpstr>5 Spark/Storm 对 join 扩展</vt:lpstr>
      <vt:lpstr>END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多租户系统介绍</dc:title>
  <dc:creator>XinHua Ye</dc:creator>
  <cp:lastModifiedBy>Administrator</cp:lastModifiedBy>
  <cp:revision>256</cp:revision>
  <dcterms:created xsi:type="dcterms:W3CDTF">2017-04-17T07:47:00Z</dcterms:created>
  <dcterms:modified xsi:type="dcterms:W3CDTF">2017-09-06T09:05:25Z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